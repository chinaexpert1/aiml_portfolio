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816" autoAdjust="0"/>
  </p:normalViewPr>
  <p:slideViewPr>
    <p:cSldViewPr snapToGrid="0">
      <p:cViewPr varScale="1">
        <p:scale>
          <a:sx n="118" d="100"/>
          <a:sy n="118" d="100"/>
        </p:scale>
        <p:origin x="1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EEA23-E8B1-751D-743C-469E29024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69F11-B1D4-A5D6-2988-599D532FD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54CB8-F7E2-D7B2-8B49-103890722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ED83-BF24-44A9-89F0-AC49075D0B9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D166-41CF-3AD8-A320-869A9E415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1A42E-9388-072F-E07D-22334258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870A-491C-42AB-BF20-8945A3AC5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78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7E506-C5C3-2576-8364-7164FAD2A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DB409-F521-6993-6A7B-C65EF7DDB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6195D-8C64-00A1-642E-7917B2876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ED83-BF24-44A9-89F0-AC49075D0B9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29A80-3F66-B6D5-F14D-30B2FCF9A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9D4B1-1FD0-4E8F-14FA-29F887454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870A-491C-42AB-BF20-8945A3AC5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02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D9FE0-B4F9-D837-CB09-502FC501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8E6CF-D231-D0A7-EE55-84E3F8C18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4B4C4-54B5-BE99-9A77-5C566FED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ED83-BF24-44A9-89F0-AC49075D0B9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7756F-398A-CC5B-1B95-EC43566B2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99514-FAAE-F06D-1D70-179CD0CA6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870A-491C-42AB-BF20-8945A3AC5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99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3B72B-6700-BB2A-EC17-8C6689DF3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1444-AE78-2EAA-A647-AC247DC8D5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0DC86-C389-9764-26B5-38F23D034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13DB6-87B2-057C-ABFE-F0540C4C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ED83-BF24-44A9-89F0-AC49075D0B9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BB6F3-7F95-2897-2159-428F13452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9A306-3692-87AA-24FE-E0EEC41B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870A-491C-42AB-BF20-8945A3AC5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19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56BD-E58E-4593-0C98-4620A7517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0E774-EC21-D019-5D70-F1D981068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ACBCF-A046-8347-E086-81FC5CBE1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2878B-3906-6C8F-DD89-6568ADA60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B1C2B-34B8-E373-86D1-5B6FB9C63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A28BBD-AA16-34F9-E968-3F988F6D8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ED83-BF24-44A9-89F0-AC49075D0B9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AA6A2A-B450-E6D7-9402-02FBFE84F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1640C0-19F6-6353-C588-FC2076471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870A-491C-42AB-BF20-8945A3AC5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6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251DA-8679-CE5F-5CB3-A5B5B85B2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963472-8C2A-6925-259B-476C32DE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ED83-BF24-44A9-89F0-AC49075D0B9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52DB-A314-FE1D-6965-51CBF255B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DC2B7-7EDC-5D22-A9DF-41D72DDEB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870A-491C-42AB-BF20-8945A3AC5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871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C1263-89A0-A7AB-41CB-459CCE33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ED83-BF24-44A9-89F0-AC49075D0B9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2CDA2F-1F62-05CC-7861-D93F112F4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7E63D-F01D-F59D-4B69-B48A106CF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870A-491C-42AB-BF20-8945A3AC5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0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C85D8-AD7E-99E8-396F-E98BD4B16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2F4E7-A71E-3FF6-1BEB-F6F2AA938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040F8-BD28-D400-4C29-FB9392608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17D1C-5508-3E49-0A93-8F068B160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ED83-BF24-44A9-89F0-AC49075D0B9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79F23-2458-3B3C-D91D-E18C5516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FAF9D-881D-E8C7-399E-5FD078481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870A-491C-42AB-BF20-8945A3AC5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38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771A-50A4-6B3E-6196-41BE1227C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C213D4-53F7-6D36-42CE-4A772406F6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2BDB7-F7BA-34B5-B9FB-D3DCD7272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1E85F-8BBA-EF36-4B65-CD63585A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ED83-BF24-44A9-89F0-AC49075D0B9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9793D-93B0-C0F1-2628-C83359605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B9E04-6191-E861-ED53-D0485BCE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870A-491C-42AB-BF20-8945A3AC5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51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2C02E-0A0A-DA4C-84AD-7F650E5F6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CDD08-0546-2B65-B0BA-59E7F6911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79183-18EF-6AE4-C88A-7CEC38A6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ED83-BF24-44A9-89F0-AC49075D0B9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17D91-BDCC-FA04-21D3-694F01FB2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59E13-49BC-324B-018F-26C8A707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870A-491C-42AB-BF20-8945A3AC5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77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0F5AE6-3853-4089-D7F1-BB0B9A4F6B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5087A-0186-EFE8-C5E6-8BB7A1A4A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72A87-3414-8FEF-8E13-096458FD6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ED83-BF24-44A9-89F0-AC49075D0B9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99002-3B7B-B7F9-404F-FC07DC934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065D1-3CE9-8469-0D4B-8BC84A5D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870A-491C-42AB-BF20-8945A3AC5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664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405B8-CB6D-3AF5-9248-50382B8FE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8857D-2604-7CFC-7E1B-9B0204A12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3D551-7070-2294-3EBA-70059E4DC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9ED83-BF24-44A9-89F0-AC49075D0B9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100BA-3503-A8E6-F677-6FC0DA745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C6B33-D5FC-8A96-519F-56642340B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3870A-491C-42AB-BF20-8945A3AC5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3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19EE37-ECA3-A955-C38C-5EF98C143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39" y="1302212"/>
            <a:ext cx="5282127" cy="401641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7C448A-927C-9A23-C2B5-9BE380CF0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414793"/>
              </p:ext>
            </p:extLst>
          </p:nvPr>
        </p:nvGraphicFramePr>
        <p:xfrm>
          <a:off x="195249" y="1327791"/>
          <a:ext cx="2929614" cy="53492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464807">
                  <a:extLst>
                    <a:ext uri="{9D8B030D-6E8A-4147-A177-3AD203B41FA5}">
                      <a16:colId xmlns:a16="http://schemas.microsoft.com/office/drawing/2014/main" val="1473983672"/>
                    </a:ext>
                  </a:extLst>
                </a:gridCol>
                <a:gridCol w="1464807">
                  <a:extLst>
                    <a:ext uri="{9D8B030D-6E8A-4147-A177-3AD203B41FA5}">
                      <a16:colId xmlns:a16="http://schemas.microsoft.com/office/drawing/2014/main" val="232376740"/>
                    </a:ext>
                  </a:extLst>
                </a:gridCol>
              </a:tblGrid>
              <a:tr h="949373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Instrument Cluster: EACH ITEM PAIRED WITH A PROBABILITY DIST. OF TARGET AND CIVILIAN PRESENCE BY LOCATION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Also, Hide/Show various Overlays of the data on the map where applicable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479420"/>
                  </a:ext>
                </a:extLst>
              </a:tr>
              <a:tr h="402764">
                <a:tc>
                  <a:txBody>
                    <a:bodyPr/>
                    <a:lstStyle/>
                    <a:p>
                      <a:r>
                        <a:rPr lang="en-US" sz="1100" dirty="0"/>
                        <a:t>Radar Spectrometer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Ground Clutter Measurements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576896"/>
                  </a:ext>
                </a:extLst>
              </a:tr>
              <a:tr h="402764">
                <a:tc>
                  <a:txBody>
                    <a:bodyPr/>
                    <a:lstStyle/>
                    <a:p>
                      <a:r>
                        <a:rPr lang="en-US" sz="1100" dirty="0"/>
                        <a:t>Rader Echoes Readout 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Heat Signatures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689054"/>
                  </a:ext>
                </a:extLst>
              </a:tr>
              <a:tr h="380801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Overall Sensor Confidence 1-4</a:t>
                      </a:r>
                    </a:p>
                    <a:p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375010"/>
                  </a:ext>
                </a:extLst>
              </a:tr>
              <a:tr h="573569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Historical Data+ </a:t>
                      </a:r>
                      <a:r>
                        <a:rPr lang="en-US" sz="1100" dirty="0" err="1">
                          <a:solidFill>
                            <a:srgbClr val="FF0000"/>
                          </a:solidFill>
                        </a:rPr>
                        <a:t>Parzen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 Window Overlay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Object Recognition 1-4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234505"/>
                  </a:ext>
                </a:extLst>
              </a:tr>
              <a:tr h="402764">
                <a:tc>
                  <a:txBody>
                    <a:bodyPr/>
                    <a:lstStyle/>
                    <a:p>
                      <a:r>
                        <a:rPr lang="en-US" sz="1100" dirty="0"/>
                        <a:t>Pre-Detection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Post-Detection Controls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629983"/>
                  </a:ext>
                </a:extLst>
              </a:tr>
              <a:tr h="5880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Interfering Signals Monitor, System Noise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Signal Shape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104058"/>
                  </a:ext>
                </a:extLst>
              </a:tr>
              <a:tr h="402764">
                <a:tc>
                  <a:txBody>
                    <a:bodyPr/>
                    <a:lstStyle/>
                    <a:p>
                      <a:r>
                        <a:rPr lang="en-US" sz="1100" dirty="0"/>
                        <a:t>Uniform Aperture Config (phase)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Tapered Aperture Config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471484"/>
                  </a:ext>
                </a:extLst>
              </a:tr>
              <a:tr h="402764">
                <a:tc>
                  <a:txBody>
                    <a:bodyPr/>
                    <a:lstStyle/>
                    <a:p>
                      <a:r>
                        <a:rPr lang="en-US" sz="1100" dirty="0"/>
                        <a:t>Doppler 1-4</a:t>
                      </a:r>
                    </a:p>
                    <a:p>
                      <a:r>
                        <a:rPr lang="en-US" sz="1100" dirty="0"/>
                        <a:t>(plus angle)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Antenna Sidelobes 1-4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727954"/>
                  </a:ext>
                </a:extLst>
              </a:tr>
              <a:tr h="402764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Contact Commanding Officer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13279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EE7CFF2-C6FC-F3A1-34FB-55BFFFF30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921388"/>
              </p:ext>
            </p:extLst>
          </p:nvPr>
        </p:nvGraphicFramePr>
        <p:xfrm>
          <a:off x="1455620" y="137070"/>
          <a:ext cx="9280760" cy="1111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095">
                  <a:extLst>
                    <a:ext uri="{9D8B030D-6E8A-4147-A177-3AD203B41FA5}">
                      <a16:colId xmlns:a16="http://schemas.microsoft.com/office/drawing/2014/main" val="1185822282"/>
                    </a:ext>
                  </a:extLst>
                </a:gridCol>
                <a:gridCol w="1160095">
                  <a:extLst>
                    <a:ext uri="{9D8B030D-6E8A-4147-A177-3AD203B41FA5}">
                      <a16:colId xmlns:a16="http://schemas.microsoft.com/office/drawing/2014/main" val="2334239406"/>
                    </a:ext>
                  </a:extLst>
                </a:gridCol>
                <a:gridCol w="1160095">
                  <a:extLst>
                    <a:ext uri="{9D8B030D-6E8A-4147-A177-3AD203B41FA5}">
                      <a16:colId xmlns:a16="http://schemas.microsoft.com/office/drawing/2014/main" val="1942695161"/>
                    </a:ext>
                  </a:extLst>
                </a:gridCol>
                <a:gridCol w="1160095">
                  <a:extLst>
                    <a:ext uri="{9D8B030D-6E8A-4147-A177-3AD203B41FA5}">
                      <a16:colId xmlns:a16="http://schemas.microsoft.com/office/drawing/2014/main" val="1416549255"/>
                    </a:ext>
                  </a:extLst>
                </a:gridCol>
                <a:gridCol w="1160095">
                  <a:extLst>
                    <a:ext uri="{9D8B030D-6E8A-4147-A177-3AD203B41FA5}">
                      <a16:colId xmlns:a16="http://schemas.microsoft.com/office/drawing/2014/main" val="1653420900"/>
                    </a:ext>
                  </a:extLst>
                </a:gridCol>
                <a:gridCol w="1160095">
                  <a:extLst>
                    <a:ext uri="{9D8B030D-6E8A-4147-A177-3AD203B41FA5}">
                      <a16:colId xmlns:a16="http://schemas.microsoft.com/office/drawing/2014/main" val="922821348"/>
                    </a:ext>
                  </a:extLst>
                </a:gridCol>
                <a:gridCol w="1160095">
                  <a:extLst>
                    <a:ext uri="{9D8B030D-6E8A-4147-A177-3AD203B41FA5}">
                      <a16:colId xmlns:a16="http://schemas.microsoft.com/office/drawing/2014/main" val="3109305353"/>
                    </a:ext>
                  </a:extLst>
                </a:gridCol>
                <a:gridCol w="1160095">
                  <a:extLst>
                    <a:ext uri="{9D8B030D-6E8A-4147-A177-3AD203B41FA5}">
                      <a16:colId xmlns:a16="http://schemas.microsoft.com/office/drawing/2014/main" val="567956902"/>
                    </a:ext>
                  </a:extLst>
                </a:gridCol>
              </a:tblGrid>
              <a:tr h="1111381">
                <a:tc>
                  <a:txBody>
                    <a:bodyPr/>
                    <a:lstStyle/>
                    <a:p>
                      <a:r>
                        <a:rPr lang="en-US" sz="1200" dirty="0"/>
                        <a:t>Loc 1 satellite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Visual Feeds</a:t>
                      </a:r>
                    </a:p>
                    <a:p>
                      <a:r>
                        <a:rPr lang="en-US" sz="1200" dirty="0"/>
                        <a:t>Select a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Loc 1 Aux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Select another source when </a:t>
                      </a:r>
                      <a:r>
                        <a:rPr lang="en-US" sz="1200" dirty="0" err="1"/>
                        <a:t>avaiable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Loc 2 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Loc 2 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Loc 3 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Loc 4 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Loc 4 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Loc 4 Aux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45335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CB725BD-E874-F879-DFB3-6B92167C4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439117"/>
              </p:ext>
            </p:extLst>
          </p:nvPr>
        </p:nvGraphicFramePr>
        <p:xfrm>
          <a:off x="135172" y="132022"/>
          <a:ext cx="1200648" cy="1099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62">
                  <a:extLst>
                    <a:ext uri="{9D8B030D-6E8A-4147-A177-3AD203B41FA5}">
                      <a16:colId xmlns:a16="http://schemas.microsoft.com/office/drawing/2014/main" val="109735195"/>
                    </a:ext>
                  </a:extLst>
                </a:gridCol>
                <a:gridCol w="300162">
                  <a:extLst>
                    <a:ext uri="{9D8B030D-6E8A-4147-A177-3AD203B41FA5}">
                      <a16:colId xmlns:a16="http://schemas.microsoft.com/office/drawing/2014/main" val="1161407811"/>
                    </a:ext>
                  </a:extLst>
                </a:gridCol>
                <a:gridCol w="300162">
                  <a:extLst>
                    <a:ext uri="{9D8B030D-6E8A-4147-A177-3AD203B41FA5}">
                      <a16:colId xmlns:a16="http://schemas.microsoft.com/office/drawing/2014/main" val="1480056897"/>
                    </a:ext>
                  </a:extLst>
                </a:gridCol>
                <a:gridCol w="300162">
                  <a:extLst>
                    <a:ext uri="{9D8B030D-6E8A-4147-A177-3AD203B41FA5}">
                      <a16:colId xmlns:a16="http://schemas.microsoft.com/office/drawing/2014/main" val="3342574599"/>
                    </a:ext>
                  </a:extLst>
                </a:gridCol>
              </a:tblGrid>
              <a:tr h="627424">
                <a:tc gridSpan="4">
                  <a:txBody>
                    <a:bodyPr/>
                    <a:lstStyle/>
                    <a:p>
                      <a:r>
                        <a:rPr lang="en-US" dirty="0"/>
                        <a:t>Audio Selection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130688"/>
                  </a:ext>
                </a:extLst>
              </a:tr>
              <a:tr h="459049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78879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BE22970-0C38-3A7C-D5B5-03694C0A8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34983"/>
              </p:ext>
            </p:extLst>
          </p:nvPr>
        </p:nvGraphicFramePr>
        <p:xfrm>
          <a:off x="6345140" y="4947792"/>
          <a:ext cx="2170708" cy="370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0708">
                  <a:extLst>
                    <a:ext uri="{9D8B030D-6E8A-4147-A177-3AD203B41FA5}">
                      <a16:colId xmlns:a16="http://schemas.microsoft.com/office/drawing/2014/main" val="2317371599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r>
                        <a:rPr lang="en-US" sz="800" dirty="0"/>
                        <a:t> RECALCULATE BASED ON TARGET ESCAPING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0928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AAB817D-6958-0AEB-5FBD-E93C5B5F0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838708"/>
              </p:ext>
            </p:extLst>
          </p:nvPr>
        </p:nvGraphicFramePr>
        <p:xfrm>
          <a:off x="3347499" y="5372117"/>
          <a:ext cx="5168349" cy="145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8349">
                  <a:extLst>
                    <a:ext uri="{9D8B030D-6E8A-4147-A177-3AD203B41FA5}">
                      <a16:colId xmlns:a16="http://schemas.microsoft.com/office/drawing/2014/main" val="1548337490"/>
                    </a:ext>
                  </a:extLst>
                </a:gridCol>
              </a:tblGrid>
              <a:tr h="230007">
                <a:tc>
                  <a:txBody>
                    <a:bodyPr/>
                    <a:lstStyle/>
                    <a:p>
                      <a:r>
                        <a:rPr lang="en-US" sz="1200" dirty="0"/>
                        <a:t>Supplemental Orders Incoming Readout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758797"/>
                  </a:ext>
                </a:extLst>
              </a:tr>
              <a:tr h="2300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Civilian Presence Decision by Counterfire 1-4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538990"/>
                  </a:ext>
                </a:extLst>
              </a:tr>
              <a:tr h="4444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Current threshold and top 5 factors contributing to decision, with individual confidence measures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862678"/>
                  </a:ext>
                </a:extLst>
              </a:tr>
              <a:tr h="4444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Legal and Ethical Considerations spotted by the computer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31522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979B07B-97C9-B821-7C15-C4BF2230B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425988"/>
              </p:ext>
            </p:extLst>
          </p:nvPr>
        </p:nvGraphicFramePr>
        <p:xfrm>
          <a:off x="8682824" y="2293772"/>
          <a:ext cx="3164620" cy="4496663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82310">
                  <a:extLst>
                    <a:ext uri="{9D8B030D-6E8A-4147-A177-3AD203B41FA5}">
                      <a16:colId xmlns:a16="http://schemas.microsoft.com/office/drawing/2014/main" val="4079813605"/>
                    </a:ext>
                  </a:extLst>
                </a:gridCol>
                <a:gridCol w="1582310">
                  <a:extLst>
                    <a:ext uri="{9D8B030D-6E8A-4147-A177-3AD203B41FA5}">
                      <a16:colId xmlns:a16="http://schemas.microsoft.com/office/drawing/2014/main" val="1073136087"/>
                    </a:ext>
                  </a:extLst>
                </a:gridCol>
              </a:tblGrid>
              <a:tr h="468811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Weapons  and Operator Tools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83283"/>
                  </a:ext>
                </a:extLst>
              </a:tr>
              <a:tr h="46881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Selection of weapon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Weapon Readiness/Status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574356"/>
                  </a:ext>
                </a:extLst>
              </a:tr>
              <a:tr h="651062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Available weapons and their 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Weapon Inventory counts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053422"/>
                  </a:ext>
                </a:extLst>
              </a:tr>
              <a:tr h="602836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Weapon locations, distance, time to target,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blast radius. Overlay blast radius toggle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326846"/>
                  </a:ext>
                </a:extLst>
              </a:tr>
              <a:tr h="602836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Speed, angle, and trajectory of incoming fire with a confidence measure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065950"/>
                  </a:ext>
                </a:extLst>
              </a:tr>
              <a:tr h="76468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Nature of Fire,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Impact on Counterfire capabilities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57447"/>
                  </a:ext>
                </a:extLst>
              </a:tr>
              <a:tr h="468811">
                <a:tc>
                  <a:txBody>
                    <a:bodyPr/>
                    <a:lstStyle/>
                    <a:p>
                      <a:r>
                        <a:rPr lang="en-US" sz="1200" dirty="0"/>
                        <a:t>Time since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show escape routes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613212"/>
                  </a:ext>
                </a:extLst>
              </a:tr>
              <a:tr h="46881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Press to open CAI operators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Press to open relevant law and ethics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8769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9F794E4-36B0-DD3A-7FF8-7C0D9A2C2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222958"/>
              </p:ext>
            </p:extLst>
          </p:nvPr>
        </p:nvGraphicFramePr>
        <p:xfrm>
          <a:off x="8682824" y="1427152"/>
          <a:ext cx="316462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310">
                  <a:extLst>
                    <a:ext uri="{9D8B030D-6E8A-4147-A177-3AD203B41FA5}">
                      <a16:colId xmlns:a16="http://schemas.microsoft.com/office/drawing/2014/main" val="546739453"/>
                    </a:ext>
                  </a:extLst>
                </a:gridCol>
                <a:gridCol w="1582310">
                  <a:extLst>
                    <a:ext uri="{9D8B030D-6E8A-4147-A177-3AD203B41FA5}">
                      <a16:colId xmlns:a16="http://schemas.microsoft.com/office/drawing/2014/main" val="68988863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Comms with Troops or Pilots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210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Show friendly positions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Friendly fire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85030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51F0055-0B83-522F-A72E-3C6259064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006420"/>
              </p:ext>
            </p:extLst>
          </p:nvPr>
        </p:nvGraphicFramePr>
        <p:xfrm>
          <a:off x="10856180" y="167024"/>
          <a:ext cx="1200648" cy="1051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648">
                  <a:extLst>
                    <a:ext uri="{9D8B030D-6E8A-4147-A177-3AD203B41FA5}">
                      <a16:colId xmlns:a16="http://schemas.microsoft.com/office/drawing/2014/main" val="4041411104"/>
                    </a:ext>
                  </a:extLst>
                </a:gridCol>
              </a:tblGrid>
              <a:tr h="1051471">
                <a:tc>
                  <a:txBody>
                    <a:bodyPr/>
                    <a:lstStyle/>
                    <a:p>
                      <a:r>
                        <a:rPr lang="en-US" dirty="0"/>
                        <a:t>System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763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661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257</Words>
  <Application>Microsoft Office PowerPoint</Application>
  <PresentationFormat>Widescreen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Taylor</dc:creator>
  <cp:lastModifiedBy>Andrew Taylor</cp:lastModifiedBy>
  <cp:revision>4</cp:revision>
  <dcterms:created xsi:type="dcterms:W3CDTF">2024-02-25T20:01:37Z</dcterms:created>
  <dcterms:modified xsi:type="dcterms:W3CDTF">2024-02-25T21:22:31Z</dcterms:modified>
</cp:coreProperties>
</file>